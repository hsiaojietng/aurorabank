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6" r:id="rId4"/>
  </p:sldMasterIdLst>
  <p:sldIdLst>
    <p:sldId id="257" r:id="rId5"/>
    <p:sldId id="259" r:id="rId6"/>
    <p:sldId id="260" r:id="rId7"/>
    <p:sldId id="261" r:id="rId8"/>
    <p:sldId id="263" r:id="rId9"/>
    <p:sldId id="258"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A8B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06" autoAdjust="0"/>
    <p:restoredTop sz="94660"/>
  </p:normalViewPr>
  <p:slideViewPr>
    <p:cSldViewPr snapToGrid="0">
      <p:cViewPr varScale="1">
        <p:scale>
          <a:sx n="45" d="100"/>
          <a:sy n="45" d="100"/>
        </p:scale>
        <p:origin x="30" y="97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1/11/2026</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583314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1/11/2026</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926706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1/11/2026</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041625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1/11/2026</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566630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1/11/2026</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0681946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1/11/2026</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118605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1/11/2026</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014226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1/11/2026</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9332822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1/11/2026</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232677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7D5506EE-1026-4F35-9ACC-BD05BE0F9B36}"/>
              </a:ext>
            </a:extLst>
          </p:cNvPr>
          <p:cNvSpPr>
            <a:spLocks noGrp="1"/>
          </p:cNvSpPr>
          <p:nvPr>
            <p:ph type="dt" sz="half" idx="10"/>
          </p:nvPr>
        </p:nvSpPr>
        <p:spPr/>
        <p:txBody>
          <a:bodyPr/>
          <a:lstStyle/>
          <a:p>
            <a:fld id="{B612A279-0833-481D-8C56-F67FD0AC6C50}" type="datetime1">
              <a:rPr lang="en-US" smtClean="0"/>
              <a:t>1/11/2026</a:t>
            </a:fld>
            <a:endParaRPr lang="en-US" dirty="0"/>
          </a:p>
        </p:txBody>
      </p:sp>
      <p:sp>
        <p:nvSpPr>
          <p:cNvPr id="8" name="Footer Placeholder 7">
            <a:extLst>
              <a:ext uri="{FF2B5EF4-FFF2-40B4-BE49-F238E27FC236}">
                <a16:creationId xmlns:a16="http://schemas.microsoft.com/office/drawing/2014/main" id="{B7696E5F-8D95-4450-AE52-5438E6EDE2BF}"/>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999B2253-74CC-409E-BEB0-F8EFCFCB562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6722698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1B68A5B-D9FA-424B-A4EB-30E7223836B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F33D6B0-F070-45C4-A472-19F432BE3932}"/>
              </a:ext>
            </a:extLst>
          </p:cNvPr>
          <p:cNvSpPr>
            <a:spLocks noGrp="1"/>
          </p:cNvSpPr>
          <p:nvPr>
            <p:ph type="dt" sz="half" idx="10"/>
          </p:nvPr>
        </p:nvSpPr>
        <p:spPr/>
        <p:txBody>
          <a:bodyPr/>
          <a:lstStyle/>
          <a:p>
            <a:fld id="{6587DA83-5663-4C9C-B9AA-0B40A3DAFF81}" type="datetime1">
              <a:rPr lang="en-US" smtClean="0"/>
              <a:t>1/11/2026</a:t>
            </a:fld>
            <a:endParaRPr lang="en-US" dirty="0"/>
          </a:p>
        </p:txBody>
      </p:sp>
      <p:sp>
        <p:nvSpPr>
          <p:cNvPr id="8" name="Footer Placeholder 7">
            <a:extLst>
              <a:ext uri="{FF2B5EF4-FFF2-40B4-BE49-F238E27FC236}">
                <a16:creationId xmlns:a16="http://schemas.microsoft.com/office/drawing/2014/main" id="{9975399F-DAB2-410D-967F-ED17E6F796E7}"/>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F762A46F-6BE5-4D12-9412-5CA7672EA8EC}"/>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618272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fld id="{62D6E202-B606-4609-B914-27C9371A1F6D}" type="datetime1">
              <a:rPr lang="en-US" smtClean="0"/>
              <a:t>1/11/2026</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4982234"/>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47" r:id="rId3"/>
    <p:sldLayoutId id="2147483743" r:id="rId4"/>
    <p:sldLayoutId id="2147483738" r:id="rId5"/>
    <p:sldLayoutId id="2147483732" r:id="rId6"/>
    <p:sldLayoutId id="2147483733" r:id="rId7"/>
    <p:sldLayoutId id="2147483734" r:id="rId8"/>
    <p:sldLayoutId id="2147483735" r:id="rId9"/>
    <p:sldLayoutId id="2147483736" r:id="rId10"/>
    <p:sldLayoutId id="2147483737" r:id="rId11"/>
  </p:sldLayoutIdLst>
  <p:hf sldNum="0" hdr="0" ftr="0" dt="0"/>
  <p:txStyles>
    <p:title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A9286AD2-18A9-4868-A4E3-7A2097A208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1"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8FD68DA-43BA-4508-8DE2-BA9BB7B2FA5B}"/>
              </a:ext>
            </a:extLst>
          </p:cNvPr>
          <p:cNvSpPr>
            <a:spLocks noGrp="1"/>
          </p:cNvSpPr>
          <p:nvPr>
            <p:ph type="ctrTitle"/>
          </p:nvPr>
        </p:nvSpPr>
        <p:spPr>
          <a:xfrm>
            <a:off x="5289754" y="639097"/>
            <a:ext cx="6253317" cy="3686015"/>
          </a:xfrm>
        </p:spPr>
        <p:txBody>
          <a:bodyPr>
            <a:normAutofit/>
          </a:bodyPr>
          <a:lstStyle/>
          <a:p>
            <a:r>
              <a:rPr lang="en-US" sz="5000" dirty="0"/>
              <a:t>How to bring in more profit and reduce delinquency rate</a:t>
            </a:r>
          </a:p>
        </p:txBody>
      </p:sp>
      <p:sp>
        <p:nvSpPr>
          <p:cNvPr id="3" name="Subtitle 2">
            <a:extLst>
              <a:ext uri="{FF2B5EF4-FFF2-40B4-BE49-F238E27FC236}">
                <a16:creationId xmlns:a16="http://schemas.microsoft.com/office/drawing/2014/main" id="{A8E9CFF2-3777-4FF4-A759-8491175B0B7C}"/>
              </a:ext>
            </a:extLst>
          </p:cNvPr>
          <p:cNvSpPr>
            <a:spLocks noGrp="1"/>
          </p:cNvSpPr>
          <p:nvPr>
            <p:ph type="subTitle" idx="1"/>
          </p:nvPr>
        </p:nvSpPr>
        <p:spPr>
          <a:xfrm>
            <a:off x="5289753" y="4672739"/>
            <a:ext cx="6269347" cy="1021498"/>
          </a:xfrm>
        </p:spPr>
        <p:txBody>
          <a:bodyPr>
            <a:normAutofit/>
          </a:bodyPr>
          <a:lstStyle/>
          <a:p>
            <a:r>
              <a:rPr lang="en-US" sz="2400" dirty="0" err="1">
                <a:solidFill>
                  <a:schemeClr val="tx1">
                    <a:lumMod val="85000"/>
                    <a:lumOff val="15000"/>
                  </a:schemeClr>
                </a:solidFill>
              </a:rPr>
              <a:t>AuroraBank</a:t>
            </a:r>
            <a:endParaRPr lang="en-US" sz="2400" dirty="0">
              <a:solidFill>
                <a:schemeClr val="tx1">
                  <a:lumMod val="85000"/>
                  <a:lumOff val="15000"/>
                </a:schemeClr>
              </a:solidFill>
            </a:endParaRPr>
          </a:p>
        </p:txBody>
      </p:sp>
      <p:pic>
        <p:nvPicPr>
          <p:cNvPr id="5" name="Picture 4" descr="A picture containing building, sitting, bench, side&#10;&#10;Description automatically generated">
            <a:extLst>
              <a:ext uri="{FF2B5EF4-FFF2-40B4-BE49-F238E27FC236}">
                <a16:creationId xmlns:a16="http://schemas.microsoft.com/office/drawing/2014/main" id="{282CF6DD-7FE8-4063-9551-1B7BBCE92ABE}"/>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1" y="1"/>
            <a:ext cx="4635315" cy="6857999"/>
          </a:xfrm>
          <a:prstGeom prst="rect">
            <a:avLst/>
          </a:prstGeom>
        </p:spPr>
      </p:pic>
      <p:cxnSp>
        <p:nvCxnSpPr>
          <p:cNvPr id="24" name="Straight Connector 23">
            <a:extLst>
              <a:ext uri="{FF2B5EF4-FFF2-40B4-BE49-F238E27FC236}">
                <a16:creationId xmlns:a16="http://schemas.microsoft.com/office/drawing/2014/main" id="{E7A7CD63-7EC3-44F3-95D0-595C4019FF2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427754" y="4498925"/>
            <a:ext cx="5636107"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37378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3FDA80-89BE-3FBD-F46C-D7336D19FFAA}"/>
              </a:ext>
            </a:extLst>
          </p:cNvPr>
          <p:cNvSpPr>
            <a:spLocks noGrp="1"/>
          </p:cNvSpPr>
          <p:nvPr>
            <p:ph type="title"/>
          </p:nvPr>
        </p:nvSpPr>
        <p:spPr/>
        <p:txBody>
          <a:bodyPr/>
          <a:lstStyle/>
          <a:p>
            <a:r>
              <a:rPr lang="en-MY" dirty="0"/>
              <a:t>Problem Statement</a:t>
            </a:r>
          </a:p>
        </p:txBody>
      </p:sp>
      <p:sp>
        <p:nvSpPr>
          <p:cNvPr id="3" name="Content Placeholder 2">
            <a:extLst>
              <a:ext uri="{FF2B5EF4-FFF2-40B4-BE49-F238E27FC236}">
                <a16:creationId xmlns:a16="http://schemas.microsoft.com/office/drawing/2014/main" id="{5EAFA6F6-29AF-A905-B459-7E1C437D38FF}"/>
              </a:ext>
            </a:extLst>
          </p:cNvPr>
          <p:cNvSpPr>
            <a:spLocks noGrp="1"/>
          </p:cNvSpPr>
          <p:nvPr>
            <p:ph idx="1"/>
          </p:nvPr>
        </p:nvSpPr>
        <p:spPr/>
        <p:txBody>
          <a:bodyPr/>
          <a:lstStyle/>
          <a:p>
            <a:r>
              <a:rPr lang="en-US" dirty="0"/>
              <a:t>“We are acquiring customers, but portfolio risk and profitability trends are worrying. </a:t>
            </a:r>
            <a:r>
              <a:rPr lang="en-US" b="1" dirty="0"/>
              <a:t>Can you build a unified view of our card and personal loan customers to identify: which segments are driving delinquencies and fraud, which segments are profitable and engaged, and what early behavioral signals predict future risk or inactivity, so we can adjust our underwriting, credit limits, and marketing strategies?”</a:t>
            </a:r>
          </a:p>
        </p:txBody>
      </p:sp>
    </p:spTree>
    <p:extLst>
      <p:ext uri="{BB962C8B-B14F-4D97-AF65-F5344CB8AC3E}">
        <p14:creationId xmlns:p14="http://schemas.microsoft.com/office/powerpoint/2010/main" val="23931149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5E15E5-162B-87C9-4BC2-76FE7C632A93}"/>
              </a:ext>
            </a:extLst>
          </p:cNvPr>
          <p:cNvSpPr>
            <a:spLocks noGrp="1"/>
          </p:cNvSpPr>
          <p:nvPr>
            <p:ph type="title"/>
          </p:nvPr>
        </p:nvSpPr>
        <p:spPr/>
        <p:txBody>
          <a:bodyPr/>
          <a:lstStyle/>
          <a:p>
            <a:r>
              <a:rPr lang="en-MY" dirty="0"/>
              <a:t>Introduction</a:t>
            </a:r>
          </a:p>
        </p:txBody>
      </p:sp>
      <p:sp>
        <p:nvSpPr>
          <p:cNvPr id="3" name="Content Placeholder 2">
            <a:extLst>
              <a:ext uri="{FF2B5EF4-FFF2-40B4-BE49-F238E27FC236}">
                <a16:creationId xmlns:a16="http://schemas.microsoft.com/office/drawing/2014/main" id="{D00D7A22-202D-46C4-16C4-E74300E01818}"/>
              </a:ext>
            </a:extLst>
          </p:cNvPr>
          <p:cNvSpPr>
            <a:spLocks noGrp="1"/>
          </p:cNvSpPr>
          <p:nvPr>
            <p:ph idx="1"/>
          </p:nvPr>
        </p:nvSpPr>
        <p:spPr/>
        <p:txBody>
          <a:bodyPr/>
          <a:lstStyle/>
          <a:p>
            <a:r>
              <a:rPr lang="en-MY" dirty="0"/>
              <a:t>- Objective: Investigate the relationship between customer segments, their behaviour to the bank’s profit and delinquency rate.</a:t>
            </a:r>
          </a:p>
          <a:p>
            <a:r>
              <a:rPr lang="en-MY" dirty="0"/>
              <a:t>- Key Factors: Analyse factors that influences profit and delinquency rate.</a:t>
            </a:r>
          </a:p>
          <a:p>
            <a:r>
              <a:rPr lang="en-MY" dirty="0"/>
              <a:t>- Analysis: Examine customer data from different regions with the product types, Credit Card and Personal Loan to identify patterns on profit for the bank and delinquency rate.</a:t>
            </a:r>
          </a:p>
          <a:p>
            <a:r>
              <a:rPr lang="en-MY" dirty="0"/>
              <a:t>- Outcome: Recommend next steps to optimize profit for the bank and reduce delinquency rate.</a:t>
            </a:r>
          </a:p>
        </p:txBody>
      </p:sp>
    </p:spTree>
    <p:extLst>
      <p:ext uri="{BB962C8B-B14F-4D97-AF65-F5344CB8AC3E}">
        <p14:creationId xmlns:p14="http://schemas.microsoft.com/office/powerpoint/2010/main" val="30648404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36CC1E-6E30-CAEA-C77A-D4D7E601E9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E5ABB7-8157-1C17-084C-CD7D8E2A262A}"/>
              </a:ext>
            </a:extLst>
          </p:cNvPr>
          <p:cNvSpPr>
            <a:spLocks noGrp="1"/>
          </p:cNvSpPr>
          <p:nvPr>
            <p:ph type="title"/>
          </p:nvPr>
        </p:nvSpPr>
        <p:spPr/>
        <p:txBody>
          <a:bodyPr/>
          <a:lstStyle/>
          <a:p>
            <a:r>
              <a:rPr lang="en-MY" dirty="0"/>
              <a:t>Customer Profile Analysis Report</a:t>
            </a:r>
          </a:p>
        </p:txBody>
      </p:sp>
      <p:pic>
        <p:nvPicPr>
          <p:cNvPr id="12" name="Picture 11">
            <a:extLst>
              <a:ext uri="{FF2B5EF4-FFF2-40B4-BE49-F238E27FC236}">
                <a16:creationId xmlns:a16="http://schemas.microsoft.com/office/drawing/2014/main" id="{9CEA1D44-B8AA-8CF8-1B8E-4EFB69649C10}"/>
              </a:ext>
            </a:extLst>
          </p:cNvPr>
          <p:cNvPicPr>
            <a:picLocks noChangeAspect="1"/>
          </p:cNvPicPr>
          <p:nvPr/>
        </p:nvPicPr>
        <p:blipFill>
          <a:blip r:embed="rId2"/>
          <a:stretch>
            <a:fillRect/>
          </a:stretch>
        </p:blipFill>
        <p:spPr>
          <a:xfrm>
            <a:off x="2498357" y="2088920"/>
            <a:ext cx="7195285" cy="4067331"/>
          </a:xfrm>
          <a:prstGeom prst="rect">
            <a:avLst/>
          </a:prstGeom>
        </p:spPr>
      </p:pic>
    </p:spTree>
    <p:extLst>
      <p:ext uri="{BB962C8B-B14F-4D97-AF65-F5344CB8AC3E}">
        <p14:creationId xmlns:p14="http://schemas.microsoft.com/office/powerpoint/2010/main" val="18455015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FFB632-246F-EB10-EC42-39BEEAB558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8661BB-AF95-5C72-CCDA-C49748FD55E8}"/>
              </a:ext>
            </a:extLst>
          </p:cNvPr>
          <p:cNvSpPr>
            <a:spLocks noGrp="1"/>
          </p:cNvSpPr>
          <p:nvPr>
            <p:ph type="title"/>
          </p:nvPr>
        </p:nvSpPr>
        <p:spPr/>
        <p:txBody>
          <a:bodyPr/>
          <a:lstStyle/>
          <a:p>
            <a:r>
              <a:rPr lang="en-MY" dirty="0"/>
              <a:t>Recommendations</a:t>
            </a:r>
          </a:p>
        </p:txBody>
      </p:sp>
      <p:sp>
        <p:nvSpPr>
          <p:cNvPr id="3" name="Content Placeholder 2">
            <a:extLst>
              <a:ext uri="{FF2B5EF4-FFF2-40B4-BE49-F238E27FC236}">
                <a16:creationId xmlns:a16="http://schemas.microsoft.com/office/drawing/2014/main" id="{7C3590B4-4BE9-3779-B979-45A7F53A80FE}"/>
              </a:ext>
            </a:extLst>
          </p:cNvPr>
          <p:cNvSpPr>
            <a:spLocks noGrp="1"/>
          </p:cNvSpPr>
          <p:nvPr>
            <p:ph idx="1"/>
          </p:nvPr>
        </p:nvSpPr>
        <p:spPr/>
        <p:txBody>
          <a:bodyPr/>
          <a:lstStyle/>
          <a:p>
            <a:r>
              <a:rPr lang="en-US" dirty="0"/>
              <a:t>- </a:t>
            </a:r>
            <a:r>
              <a:rPr lang="en-US" b="1" dirty="0"/>
              <a:t>Focus marketing efforts</a:t>
            </a:r>
            <a:r>
              <a:rPr lang="en-US" dirty="0"/>
              <a:t>: </a:t>
            </a:r>
            <a:r>
              <a:rPr lang="en-US" dirty="0" err="1"/>
              <a:t>AuroraBank</a:t>
            </a:r>
            <a:r>
              <a:rPr lang="en-US" dirty="0"/>
              <a:t> can focus marketing efforts on Singapore Credit Card customers acquired from branches as they are the ones that will spend more, bringing in more profit for the bank.</a:t>
            </a:r>
          </a:p>
          <a:p>
            <a:r>
              <a:rPr lang="en-US" dirty="0"/>
              <a:t>- </a:t>
            </a:r>
            <a:r>
              <a:rPr lang="en-US" b="1"/>
              <a:t>Early intervention </a:t>
            </a:r>
            <a:r>
              <a:rPr lang="en-US" b="1" dirty="0"/>
              <a:t>s</a:t>
            </a:r>
            <a:r>
              <a:rPr lang="en-US" b="1"/>
              <a:t>trategies</a:t>
            </a:r>
            <a:r>
              <a:rPr lang="en-US" dirty="0"/>
              <a:t>: </a:t>
            </a:r>
            <a:r>
              <a:rPr lang="en-US" dirty="0" err="1"/>
              <a:t>AuroraBank</a:t>
            </a:r>
            <a:r>
              <a:rPr lang="en-US" dirty="0"/>
              <a:t> can implement strategies to identify customers that make 1-3 transactions month on month and put up measures to prevent them from being delinquent. Additionally, they can focus this effort on the region with the most delinquents, Manila.</a:t>
            </a:r>
          </a:p>
        </p:txBody>
      </p:sp>
    </p:spTree>
    <p:extLst>
      <p:ext uri="{BB962C8B-B14F-4D97-AF65-F5344CB8AC3E}">
        <p14:creationId xmlns:p14="http://schemas.microsoft.com/office/powerpoint/2010/main" val="39157680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 name="Rectangle 46">
            <a:extLst>
              <a:ext uri="{FF2B5EF4-FFF2-40B4-BE49-F238E27FC236}">
                <a16:creationId xmlns:a16="http://schemas.microsoft.com/office/drawing/2014/main" id="{FBDCECDC-EEE3-4128-AA5E-82A8C08796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AB2EA78-AEB3-469B-9025-3B17201A457B}"/>
              </a:ext>
            </a:extLst>
          </p:cNvPr>
          <p:cNvSpPr>
            <a:spLocks noGrp="1"/>
          </p:cNvSpPr>
          <p:nvPr>
            <p:ph type="ctrTitle"/>
          </p:nvPr>
        </p:nvSpPr>
        <p:spPr>
          <a:xfrm>
            <a:off x="1097280" y="758952"/>
            <a:ext cx="10058400" cy="3892168"/>
          </a:xfrm>
        </p:spPr>
        <p:txBody>
          <a:bodyPr anchor="ctr">
            <a:normAutofit/>
          </a:bodyPr>
          <a:lstStyle/>
          <a:p>
            <a:pPr lvl="0"/>
            <a:r>
              <a:rPr lang="en-US" sz="4800" i="1" dirty="0">
                <a:solidFill>
                  <a:srgbClr val="FFFFFF"/>
                </a:solidFill>
              </a:rPr>
              <a:t>Thank you</a:t>
            </a:r>
          </a:p>
        </p:txBody>
      </p:sp>
      <p:sp>
        <p:nvSpPr>
          <p:cNvPr id="49" name="Rectangle 48">
            <a:extLst>
              <a:ext uri="{FF2B5EF4-FFF2-40B4-BE49-F238E27FC236}">
                <a16:creationId xmlns:a16="http://schemas.microsoft.com/office/drawing/2014/main" id="{4260EDE0-989C-4E16-AF94-F652294D82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91714609"/>
      </p:ext>
    </p:extLst>
  </p:cSld>
  <p:clrMapOvr>
    <a:masterClrMapping/>
  </p:clrMapOvr>
</p:sld>
</file>

<file path=ppt/theme/theme1.xml><?xml version="1.0" encoding="utf-8"?>
<a:theme xmlns:a="http://schemas.openxmlformats.org/drawingml/2006/main" name="Custom">
  <a:themeElements>
    <a:clrScheme name="Custom 37">
      <a:dk1>
        <a:srgbClr val="000000"/>
      </a:dk1>
      <a:lt1>
        <a:srgbClr val="FFFFFF"/>
      </a:lt1>
      <a:dk2>
        <a:srgbClr val="4A5356"/>
      </a:dk2>
      <a:lt2>
        <a:srgbClr val="E8E3CE"/>
      </a:lt2>
      <a:accent1>
        <a:srgbClr val="9BA8B7"/>
      </a:accent1>
      <a:accent2>
        <a:srgbClr val="E6A02E"/>
      </a:accent2>
      <a:accent3>
        <a:srgbClr val="BF6A3B"/>
      </a:accent3>
      <a:accent4>
        <a:srgbClr val="92987A"/>
      </a:accent4>
      <a:accent5>
        <a:srgbClr val="857659"/>
      </a:accent5>
      <a:accent6>
        <a:srgbClr val="A0988C"/>
      </a:accent6>
      <a:hlink>
        <a:srgbClr val="00B0F0"/>
      </a:hlink>
      <a:folHlink>
        <a:srgbClr val="738F97"/>
      </a:folHlink>
    </a:clrScheme>
    <a:fontScheme name="Retrospect">
      <a:majorFont>
        <a:latin typeface="Bookman Old Style"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TWO.pptx" id="{80AA9D2D-EE59-4148-A11E-A51EEE828B28}" vid="{AEAFD717-D3C8-4034-8F7E-D5220B0CCEB8}"/>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F4F4D41-822D-40F2-A7AC-E4E6CB36CA7A}">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19DAD249-BF80-48EF-9AFB-36A11BCDC2CE}">
  <ds:schemaRefs>
    <ds:schemaRef ds:uri="http://schemas.microsoft.com/sharepoint/v3/contenttype/forms"/>
  </ds:schemaRefs>
</ds:datastoreItem>
</file>

<file path=customXml/itemProps3.xml><?xml version="1.0" encoding="utf-8"?>
<ds:datastoreItem xmlns:ds="http://schemas.openxmlformats.org/officeDocument/2006/customXml" ds:itemID="{C5A59D56-2157-4202-9D02-F44E447A241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{D570F876-B562-4F86-B875-2828AC0227DA}tf56160789_win32</Template>
  <TotalTime>18</TotalTime>
  <Words>256</Words>
  <Application>Microsoft Office PowerPoint</Application>
  <PresentationFormat>Widescreen</PresentationFormat>
  <Paragraphs>14</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Bookman Old Style</vt:lpstr>
      <vt:lpstr>Calibri</vt:lpstr>
      <vt:lpstr>Franklin Gothic Book</vt:lpstr>
      <vt:lpstr>Custom</vt:lpstr>
      <vt:lpstr>How to bring in more profit and reduce delinquency rate</vt:lpstr>
      <vt:lpstr>Problem Statement</vt:lpstr>
      <vt:lpstr>Introduction</vt:lpstr>
      <vt:lpstr>Customer Profile Analysis Report</vt:lpstr>
      <vt:lpstr>Recommendations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Hsiao Jiet</dc:creator>
  <cp:lastModifiedBy>Hsiao Jiet</cp:lastModifiedBy>
  <cp:revision>2</cp:revision>
  <dcterms:created xsi:type="dcterms:W3CDTF">2026-01-11T09:19:44Z</dcterms:created>
  <dcterms:modified xsi:type="dcterms:W3CDTF">2026-01-11T09:38:22Z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